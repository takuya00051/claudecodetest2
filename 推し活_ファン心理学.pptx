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C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029200" cy="5029200"/>
          </a:xfrm>
          <a:prstGeom prst="ellipse">
            <a:avLst/>
          </a:prstGeom>
          <a:solidFill>
            <a:srgbClr val="7B1FA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389120"/>
            <a:ext cx="3200400" cy="3200400"/>
          </a:xfrm>
          <a:prstGeom prst="ellipse">
            <a:avLst/>
          </a:prstGeom>
          <a:solidFill>
            <a:srgbClr val="C2185B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107259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なぜ人は"推し"に熱狂するのか？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SNS時代のファン心理学入門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166360" y="3200400"/>
            <a:ext cx="118872" cy="118872"/>
          </a:xfrm>
          <a:prstGeom prst="ellipse">
            <a:avLst/>
          </a:prstGeom>
          <a:solidFill>
            <a:srgbClr val="F48FB1"/>
          </a:solidFill>
          <a:ln/>
        </p:spPr>
      </p:sp>
      <p:sp>
        <p:nvSpPr>
          <p:cNvPr id="7" name="Shape 5"/>
          <p:cNvSpPr/>
          <p:nvPr/>
        </p:nvSpPr>
        <p:spPr>
          <a:xfrm>
            <a:off x="5550408" y="3200400"/>
            <a:ext cx="118872" cy="118872"/>
          </a:xfrm>
          <a:prstGeom prst="ellipse">
            <a:avLst/>
          </a:prstGeom>
          <a:solidFill>
            <a:srgbClr val="F48FB1"/>
          </a:solidFill>
          <a:ln/>
        </p:spPr>
      </p:sp>
      <p:sp>
        <p:nvSpPr>
          <p:cNvPr id="8" name="Shape 6"/>
          <p:cNvSpPr/>
          <p:nvPr/>
        </p:nvSpPr>
        <p:spPr>
          <a:xfrm>
            <a:off x="5934456" y="3200400"/>
            <a:ext cx="118872" cy="118872"/>
          </a:xfrm>
          <a:prstGeom prst="ellipse">
            <a:avLst/>
          </a:prstGeom>
          <a:solidFill>
            <a:srgbClr val="F48FB1"/>
          </a:solidFill>
          <a:ln/>
        </p:spPr>
      </p:sp>
      <p:sp>
        <p:nvSpPr>
          <p:cNvPr id="9" name="Shape 7"/>
          <p:cNvSpPr/>
          <p:nvPr/>
        </p:nvSpPr>
        <p:spPr>
          <a:xfrm>
            <a:off x="6318504" y="3200400"/>
            <a:ext cx="118872" cy="118872"/>
          </a:xfrm>
          <a:prstGeom prst="ellipse">
            <a:avLst/>
          </a:prstGeom>
          <a:solidFill>
            <a:srgbClr val="F48FB1"/>
          </a:solidFill>
          <a:ln/>
        </p:spPr>
      </p:sp>
      <p:sp>
        <p:nvSpPr>
          <p:cNvPr id="10" name="Shape 8"/>
          <p:cNvSpPr/>
          <p:nvPr/>
        </p:nvSpPr>
        <p:spPr>
          <a:xfrm>
            <a:off x="6702552" y="3200400"/>
            <a:ext cx="118872" cy="118872"/>
          </a:xfrm>
          <a:prstGeom prst="ellipse">
            <a:avLst/>
          </a:prstGeom>
          <a:solidFill>
            <a:srgbClr val="F48FB1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52044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推し活市場は拡大中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4142232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アイドル・VTuber・スポーツ・ブランドにも広がる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4764024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"好き"はなぜここまで強い感情になるのか？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4A1C6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01168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82880"/>
            <a:ext cx="10561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「推し」の定義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25880" y="1005840"/>
            <a:ext cx="4389120" cy="713232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0472" y="1170432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8" name="Text 6"/>
          <p:cNvSpPr/>
          <p:nvPr/>
        </p:nvSpPr>
        <p:spPr>
          <a:xfrm>
            <a:off x="1728216" y="1005840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応援したい対象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25880" y="1847088"/>
            <a:ext cx="4389120" cy="713232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90472" y="2011680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1" name="Text 9"/>
          <p:cNvSpPr/>
          <p:nvPr/>
        </p:nvSpPr>
        <p:spPr>
          <a:xfrm>
            <a:off x="1728216" y="1847088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感情移入する存在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25880" y="2688336"/>
            <a:ext cx="4389120" cy="713232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90472" y="2852928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4" name="Text 12"/>
          <p:cNvSpPr/>
          <p:nvPr/>
        </p:nvSpPr>
        <p:spPr>
          <a:xfrm>
            <a:off x="1728216" y="2688336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自分の人生に影響を与える存在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987552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C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推しの例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0" y="1481328"/>
            <a:ext cx="2834640" cy="594360"/>
          </a:xfrm>
          <a:prstGeom prst="roundRect">
            <a:avLst/>
          </a:prstGeom>
          <a:solidFill>
            <a:srgbClr val="C2185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48132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アイドル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61120" y="1481328"/>
            <a:ext cx="2834640" cy="594360"/>
          </a:xfrm>
          <a:prstGeom prst="roundRect">
            <a:avLst/>
          </a:prstGeom>
          <a:solidFill>
            <a:srgbClr val="7B1FA2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0" y="148132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アニメキャラ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0" y="2240280"/>
            <a:ext cx="2834640" cy="594360"/>
          </a:xfrm>
          <a:prstGeom prst="round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22402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スポーツ選手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61120" y="2240280"/>
            <a:ext cx="2834640" cy="594360"/>
          </a:xfrm>
          <a:prstGeom prst="roundRect">
            <a:avLst/>
          </a:prstGeom>
          <a:solidFill>
            <a:srgbClr val="558B2F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0" y="22402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犬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0" y="2999232"/>
            <a:ext cx="2834640" cy="594360"/>
          </a:xfrm>
          <a:prstGeom prst="roundRect">
            <a:avLst/>
          </a:prstGeom>
          <a:solidFill>
            <a:srgbClr val="E65100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299923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ブランド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61120" y="2999232"/>
            <a:ext cx="2834640" cy="594360"/>
          </a:xfrm>
          <a:prstGeom prst="roundRect">
            <a:avLst/>
          </a:prstGeom>
          <a:solidFill>
            <a:srgbClr val="00838F"/>
          </a:solidFill>
          <a:ln/>
        </p:spPr>
      </p:sp>
      <p:sp>
        <p:nvSpPr>
          <p:cNvPr id="27" name="Text 25"/>
          <p:cNvSpPr/>
          <p:nvPr/>
        </p:nvSpPr>
        <p:spPr>
          <a:xfrm>
            <a:off x="8961120" y="299923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配信者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325880" y="3749040"/>
            <a:ext cx="10561320" cy="2423160"/>
          </a:xfrm>
          <a:prstGeom prst="roundRect">
            <a:avLst/>
          </a:prstGeom>
          <a:solidFill>
            <a:srgbClr val="FFF0F5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5880" y="3749040"/>
            <a:ext cx="201168" cy="242316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0" name="Text 28"/>
          <p:cNvSpPr/>
          <p:nvPr/>
        </p:nvSpPr>
        <p:spPr>
          <a:xfrm>
            <a:off x="1673352" y="384048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ポイント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673352" y="4343400"/>
            <a:ext cx="10012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0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「所有」ではなく「応援」が中心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4A1C6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01168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82880"/>
            <a:ext cx="10561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なぜ人は推しを作るのか？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25880" y="1005840"/>
            <a:ext cx="10561320" cy="685800"/>
          </a:xfrm>
          <a:prstGeom prst="roundRect">
            <a:avLst/>
          </a:prstGeom>
          <a:solidFill>
            <a:srgbClr val="FFF0F5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005840"/>
            <a:ext cx="10195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人間の脳は"物語"が好き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25880" y="1920240"/>
            <a:ext cx="530352" cy="530352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9202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84248" y="1856232"/>
            <a:ext cx="9902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人はストーリーに感情移入する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25880" y="2724912"/>
            <a:ext cx="530352" cy="530352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7249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84248" y="2660904"/>
            <a:ext cx="9902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成長・努力・苦労を見ると応援したくなる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25880" y="3529584"/>
            <a:ext cx="530352" cy="53035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352958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84248" y="3465576"/>
            <a:ext cx="99029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「昔から知っている」が愛着になる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25880" y="4370832"/>
            <a:ext cx="10561320" cy="1115568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08760" y="4434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FA2"/>
                </a:solidFill>
              </a:rPr>
              <a:t>例：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463040" y="4873752"/>
            <a:ext cx="3246120" cy="475488"/>
          </a:xfrm>
          <a:prstGeom prst="roundRect">
            <a:avLst/>
          </a:prstGeom>
          <a:solidFill>
            <a:srgbClr val="CE93D8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487375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C6D"/>
                </a:solidFill>
              </a:rPr>
              <a:t>下積み時代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4873752"/>
            <a:ext cx="3246120" cy="475488"/>
          </a:xfrm>
          <a:prstGeom prst="roundRect">
            <a:avLst/>
          </a:prstGeom>
          <a:solidFill>
            <a:srgbClr val="CE93D8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487375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C6D"/>
                </a:solidFill>
              </a:rPr>
              <a:t>無名時代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0" y="4873752"/>
            <a:ext cx="3246120" cy="475488"/>
          </a:xfrm>
          <a:prstGeom prst="roundRect">
            <a:avLst/>
          </a:prstGeom>
          <a:solidFill>
            <a:srgbClr val="CE93D8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4873752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1C6D"/>
                </a:solidFill>
              </a:rPr>
              <a:t>初期から追っている感覚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325880" y="5669280"/>
            <a:ext cx="10561320" cy="566928"/>
          </a:xfrm>
          <a:prstGeom prst="roundRect">
            <a:avLst/>
          </a:prstGeom>
          <a:solidFill>
            <a:srgbClr val="4A1C6D"/>
          </a:solidFill>
          <a:ln w="12700">
            <a:solidFill>
              <a:srgbClr val="4A1C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5669280"/>
            <a:ext cx="10195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キーワード：「自分だけが知っていた感」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4A1C6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01168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82880"/>
            <a:ext cx="10561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SNSが推し活を変えた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25880" y="1005840"/>
            <a:ext cx="4800600" cy="34290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0972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E9E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昔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600200" y="1847088"/>
            <a:ext cx="128016" cy="128016"/>
          </a:xfrm>
          <a:prstGeom prst="ellipse">
            <a:avLst/>
          </a:prstGeom>
          <a:solidFill>
            <a:srgbClr val="9E9E9E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755648"/>
            <a:ext cx="438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テレビ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00200" y="2651760"/>
            <a:ext cx="128016" cy="128016"/>
          </a:xfrm>
          <a:prstGeom prst="ellipse">
            <a:avLst/>
          </a:prstGeom>
          <a:solidFill>
            <a:srgbClr val="9E9E9E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2560320"/>
            <a:ext cx="438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雑誌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00200" y="3456432"/>
            <a:ext cx="128016" cy="128016"/>
          </a:xfrm>
          <a:prstGeom prst="ellipse">
            <a:avLst/>
          </a:prstGeom>
          <a:solidFill>
            <a:srgbClr val="9E9E9E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3364992"/>
            <a:ext cx="4389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限られた接触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2377440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086600" y="1005840"/>
            <a:ext cx="5330952" cy="3429000"/>
          </a:xfrm>
          <a:prstGeom prst="roundRect">
            <a:avLst/>
          </a:prstGeom>
          <a:solidFill>
            <a:srgbClr val="FFF0F5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109728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223760" y="1847088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175564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毎日更新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23760" y="2514600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24231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ライブ配信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23760" y="3182112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2" name="Text 20"/>
          <p:cNvSpPr/>
          <p:nvPr/>
        </p:nvSpPr>
        <p:spPr>
          <a:xfrm>
            <a:off x="7452360" y="309067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コメント返信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23760" y="3849624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375818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日常が見える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25880" y="4590288"/>
            <a:ext cx="10561320" cy="1627632"/>
          </a:xfrm>
          <a:prstGeom prst="roundRect">
            <a:avLst/>
          </a:prstGeom>
          <a:solidFill>
            <a:srgbClr val="4A1C6D"/>
          </a:solidFill>
          <a:ln w="12700">
            <a:solidFill>
              <a:srgbClr val="4A1C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0200" y="468172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8FB1"/>
                </a:solidFill>
              </a:rPr>
              <a:t>結果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00200" y="5120640"/>
            <a:ext cx="10012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距離感が一気に近くなった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4A1C6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01168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82880"/>
            <a:ext cx="10561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"共感"が最大の価値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25880" y="1005840"/>
            <a:ext cx="10561320" cy="1115568"/>
          </a:xfrm>
          <a:prstGeom prst="roundRect">
            <a:avLst/>
          </a:prstGeom>
          <a:solidFill>
            <a:srgbClr val="FFF0F5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005840"/>
            <a:ext cx="101955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0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人は完璧な存在より、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D0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"少し弱さがある存在"に惹かれる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304288"/>
            <a:ext cx="10561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C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共感される要素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68780" y="2816352"/>
            <a:ext cx="1837944" cy="658368"/>
          </a:xfrm>
          <a:prstGeom prst="roundRect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1668780" y="2816352"/>
            <a:ext cx="1837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不器用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78174" y="2816352"/>
            <a:ext cx="1837944" cy="658368"/>
          </a:xfrm>
          <a:prstGeom prst="roundRect">
            <a:avLst/>
          </a:prstGeom>
          <a:solidFill>
            <a:srgbClr val="E65100"/>
          </a:solidFill>
          <a:ln/>
        </p:spPr>
      </p:sp>
      <p:sp>
        <p:nvSpPr>
          <p:cNvPr id="12" name="Text 10"/>
          <p:cNvSpPr/>
          <p:nvPr/>
        </p:nvSpPr>
        <p:spPr>
          <a:xfrm>
            <a:off x="3678174" y="2816352"/>
            <a:ext cx="1837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失敗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87568" y="2816352"/>
            <a:ext cx="1837944" cy="658368"/>
          </a:xfrm>
          <a:prstGeom prst="roundRect">
            <a:avLst/>
          </a:prstGeom>
          <a:solidFill>
            <a:srgbClr val="7B1FA2"/>
          </a:solidFill>
          <a:ln/>
        </p:spPr>
      </p:sp>
      <p:sp>
        <p:nvSpPr>
          <p:cNvPr id="14" name="Text 12"/>
          <p:cNvSpPr/>
          <p:nvPr/>
        </p:nvSpPr>
        <p:spPr>
          <a:xfrm>
            <a:off x="5687568" y="2816352"/>
            <a:ext cx="1837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努力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96962" y="2816352"/>
            <a:ext cx="1837944" cy="658368"/>
          </a:xfrm>
          <a:prstGeom prst="round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7696962" y="2816352"/>
            <a:ext cx="1837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孤独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706356" y="2816352"/>
            <a:ext cx="1837944" cy="658368"/>
          </a:xfrm>
          <a:prstGeom prst="roundRect">
            <a:avLst/>
          </a:prstGeom>
          <a:solidFill>
            <a:srgbClr val="558B2F"/>
          </a:solidFill>
          <a:ln/>
        </p:spPr>
      </p:sp>
      <p:sp>
        <p:nvSpPr>
          <p:cNvPr id="18" name="Text 16"/>
          <p:cNvSpPr/>
          <p:nvPr/>
        </p:nvSpPr>
        <p:spPr>
          <a:xfrm>
            <a:off x="9706356" y="2816352"/>
            <a:ext cx="1837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挑戦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703320"/>
            <a:ext cx="10561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C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SNSで強い投稿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325880" y="4224528"/>
            <a:ext cx="4572000" cy="1719072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08760" y="4224528"/>
            <a:ext cx="425196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E9E9E"/>
                </a:solidFill>
              </a:rPr>
              <a:t>成功報告だけ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89320" y="480060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185B"/>
                </a:solidFill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858000" y="4224528"/>
            <a:ext cx="5120640" cy="1719072"/>
          </a:xfrm>
          <a:prstGeom prst="roundRect">
            <a:avLst/>
          </a:prstGeom>
          <a:solidFill>
            <a:srgbClr val="FFF0F5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4224528"/>
            <a:ext cx="493776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2185B"/>
                </a:solidFill>
              </a:rPr>
              <a:t>過程や裏側を見せる投稿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4A1C6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01168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82880"/>
            <a:ext cx="10561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ファンコミュニティの力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25880" y="1005840"/>
            <a:ext cx="10561320" cy="713232"/>
          </a:xfrm>
          <a:prstGeom prst="roundRect">
            <a:avLst/>
          </a:prstGeom>
          <a:solidFill>
            <a:srgbClr val="4A1C6D"/>
          </a:solidFill>
          <a:ln w="12700">
            <a:solidFill>
              <a:srgbClr val="4A1C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005840"/>
            <a:ext cx="10195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推し活は"仲間"を作る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25880" y="1901952"/>
            <a:ext cx="2017166" cy="224028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32711" y="2029968"/>
            <a:ext cx="603504" cy="603504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2032711" y="20299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2788920"/>
            <a:ext cx="183428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0A3F"/>
                </a:solidFill>
              </a:rPr>
              <a:t>コメント文化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61918" y="1901952"/>
            <a:ext cx="2017166" cy="224028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8750" y="2029968"/>
            <a:ext cx="603504" cy="603504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14" name="Text 12"/>
          <p:cNvSpPr/>
          <p:nvPr/>
        </p:nvSpPr>
        <p:spPr>
          <a:xfrm>
            <a:off x="4168750" y="20299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53358" y="2788920"/>
            <a:ext cx="183428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0A3F"/>
                </a:solidFill>
              </a:rPr>
              <a:t>二次創作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97957" y="1901952"/>
            <a:ext cx="2017166" cy="224028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4788" y="2029968"/>
            <a:ext cx="603504" cy="603504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304788" y="20299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89397" y="2788920"/>
            <a:ext cx="183428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0A3F"/>
                </a:solidFill>
              </a:rPr>
              <a:t>オフ会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33995" y="1901952"/>
            <a:ext cx="2017166" cy="224028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40826" y="2029968"/>
            <a:ext cx="603504" cy="603504"/>
          </a:xfrm>
          <a:prstGeom prst="ellipse">
            <a:avLst/>
          </a:prstGeom>
          <a:solidFill>
            <a:srgbClr val="558B2F"/>
          </a:solidFill>
          <a:ln/>
        </p:spPr>
      </p:sp>
      <p:sp>
        <p:nvSpPr>
          <p:cNvPr id="22" name="Text 20"/>
          <p:cNvSpPr/>
          <p:nvPr/>
        </p:nvSpPr>
        <p:spPr>
          <a:xfrm>
            <a:off x="8440826" y="20299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25435" y="2788920"/>
            <a:ext cx="183428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0A3F"/>
                </a:solidFill>
              </a:rPr>
              <a:t>イベント参加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870034" y="1901952"/>
            <a:ext cx="2017166" cy="224028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76865" y="2029968"/>
            <a:ext cx="603504" cy="603504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26" name="Text 24"/>
          <p:cNvSpPr/>
          <p:nvPr/>
        </p:nvSpPr>
        <p:spPr>
          <a:xfrm>
            <a:off x="10576865" y="202996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961474" y="2788920"/>
            <a:ext cx="183428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0A3F"/>
                </a:solidFill>
              </a:rPr>
              <a:t>グッズ共有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325880" y="4325112"/>
            <a:ext cx="10561320" cy="1828800"/>
          </a:xfrm>
          <a:prstGeom prst="roundRect">
            <a:avLst/>
          </a:prstGeom>
          <a:solidFill>
            <a:srgbClr val="FFF0F5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5880" y="4325112"/>
            <a:ext cx="182880" cy="182880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30" name="Text 28"/>
          <p:cNvSpPr/>
          <p:nvPr/>
        </p:nvSpPr>
        <p:spPr>
          <a:xfrm>
            <a:off x="1673352" y="44165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673352" y="4846320"/>
            <a:ext cx="10012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D0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人は「推し」だけでなく、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2D0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"推しを好きな人たち"も好きになる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4A1C6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01168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82880"/>
            <a:ext cx="10561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なぜグッズを買うのか？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25880" y="1005840"/>
            <a:ext cx="10561320" cy="896112"/>
          </a:xfrm>
          <a:prstGeom prst="roundRect">
            <a:avLst/>
          </a:prstGeom>
          <a:solidFill>
            <a:srgbClr val="FFF0F5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005840"/>
            <a:ext cx="101955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0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グッズは"モノ"ではなく、感情の保存装置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325880" y="2084832"/>
            <a:ext cx="5152644" cy="1389888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7048" y="23408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1527048" y="2340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2084832"/>
            <a:ext cx="4073652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思い出を残したい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34556" y="2084832"/>
            <a:ext cx="5152644" cy="1389888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35724" y="2340864"/>
            <a:ext cx="566928" cy="566928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14" name="Text 12"/>
          <p:cNvSpPr/>
          <p:nvPr/>
        </p:nvSpPr>
        <p:spPr>
          <a:xfrm>
            <a:off x="6935724" y="2340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48956" y="2084832"/>
            <a:ext cx="4073652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応援したい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325880" y="3657600"/>
            <a:ext cx="5152644" cy="1389888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27048" y="3913632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1527048" y="3913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40280" y="3657600"/>
            <a:ext cx="4073652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所属感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734556" y="3657600"/>
            <a:ext cx="5152644" cy="1389888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35724" y="3913632"/>
            <a:ext cx="566928" cy="566928"/>
          </a:xfrm>
          <a:prstGeom prst="ellipse">
            <a:avLst/>
          </a:prstGeom>
          <a:solidFill>
            <a:srgbClr val="558B2F"/>
          </a:solidFill>
          <a:ln/>
        </p:spPr>
      </p:sp>
      <p:sp>
        <p:nvSpPr>
          <p:cNvPr id="22" name="Text 20"/>
          <p:cNvSpPr/>
          <p:nvPr/>
        </p:nvSpPr>
        <p:spPr>
          <a:xfrm>
            <a:off x="6935724" y="3913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48956" y="3657600"/>
            <a:ext cx="4073652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アイデンティティ化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325880" y="5257800"/>
            <a:ext cx="10561320" cy="987552"/>
          </a:xfrm>
          <a:prstGeom prst="roundRect">
            <a:avLst/>
          </a:prstGeom>
          <a:solidFill>
            <a:srgbClr val="4A1C6D"/>
          </a:solidFill>
          <a:ln w="12700">
            <a:solidFill>
              <a:srgbClr val="4A1C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0200" y="5257800"/>
            <a:ext cx="100126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高級品より、「意味のあるモノ」が強い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4A1C6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01168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82880"/>
            <a:ext cx="10561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ブランド化する推し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25880" y="1005840"/>
            <a:ext cx="10561320" cy="685800"/>
          </a:xfrm>
          <a:prstGeom prst="roundRect">
            <a:avLst/>
          </a:prstGeom>
          <a:solidFill>
            <a:srgbClr val="FFF0F5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005840"/>
            <a:ext cx="10195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推しは"世界観"になる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25880" y="1874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C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強いブランドの特徴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44168" y="2523744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1581912" y="2432304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一貫性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44168" y="3273552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2" name="Text 10"/>
          <p:cNvSpPr/>
          <p:nvPr/>
        </p:nvSpPr>
        <p:spPr>
          <a:xfrm>
            <a:off x="1581912" y="3182112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独自の言葉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344168" y="4023360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4" name="Text 12"/>
          <p:cNvSpPr/>
          <p:nvPr/>
        </p:nvSpPr>
        <p:spPr>
          <a:xfrm>
            <a:off x="1581912" y="393192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独自の美学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44168" y="4773168"/>
            <a:ext cx="128016" cy="128016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6" name="Text 14"/>
          <p:cNvSpPr/>
          <p:nvPr/>
        </p:nvSpPr>
        <p:spPr>
          <a:xfrm>
            <a:off x="1581912" y="4681728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0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世界観が崩れない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187452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C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2395728"/>
            <a:ext cx="5394960" cy="594360"/>
          </a:xfrm>
          <a:prstGeom prst="round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39572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Apple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37960" y="3145536"/>
            <a:ext cx="5394960" cy="594360"/>
          </a:xfrm>
          <a:prstGeom prst="roundRect">
            <a:avLst/>
          </a:prstGeom>
          <a:solidFill>
            <a:srgbClr val="B7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145536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Harley-Davidson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537960" y="3895344"/>
            <a:ext cx="5394960" cy="594360"/>
          </a:xfrm>
          <a:prstGeom prst="roundRect">
            <a:avLst/>
          </a:prstGeom>
          <a:solidFill>
            <a:srgbClr val="558B2F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895344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サッカークラブ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37960" y="4645152"/>
            <a:ext cx="5394960" cy="594360"/>
          </a:xfrm>
          <a:prstGeom prst="roundRect">
            <a:avLst/>
          </a:prstGeom>
          <a:solidFill>
            <a:srgbClr val="E65100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64515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ストリートブランド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325880" y="5486400"/>
            <a:ext cx="10561320" cy="841248"/>
          </a:xfrm>
          <a:prstGeom prst="roundRect">
            <a:avLst/>
          </a:prstGeom>
          <a:solidFill>
            <a:srgbClr val="4A1C6D"/>
          </a:solidFill>
          <a:ln w="12700">
            <a:solidFill>
              <a:srgbClr val="4A1C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5486400"/>
            <a:ext cx="10195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ファン心理：「商品」ではなく"文化"を買っている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4A1C6D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201168"/>
            <a:ext cx="640080" cy="640080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82880"/>
            <a:ext cx="10561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185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推し活市場の未来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25880" y="1005840"/>
            <a:ext cx="10561320" cy="685800"/>
          </a:xfrm>
          <a:prstGeom prst="roundRect">
            <a:avLst/>
          </a:prstGeom>
          <a:solidFill>
            <a:srgbClr val="4A1C6D"/>
          </a:solidFill>
          <a:ln w="12700">
            <a:solidFill>
              <a:srgbClr val="4A1C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005840"/>
            <a:ext cx="10195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推し活はさらに拡大する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25880" y="1874520"/>
            <a:ext cx="10561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C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今後増えるもの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25880" y="2423160"/>
            <a:ext cx="5120640" cy="123444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2423160"/>
            <a:ext cx="182880" cy="123444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24688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0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AIキャラクター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97180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バーチャル存在との感情的な絆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02552" y="2423160"/>
            <a:ext cx="5120640" cy="123444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02552" y="2423160"/>
            <a:ext cx="182880" cy="123444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5" name="Text 13"/>
          <p:cNvSpPr/>
          <p:nvPr/>
        </p:nvSpPr>
        <p:spPr>
          <a:xfrm>
            <a:off x="7022592" y="24688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0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バーチャル存在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22592" y="2971800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VTuber・メタバースのキャラクター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25880" y="3867912"/>
            <a:ext cx="5120640" cy="123444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3867912"/>
            <a:ext cx="182880" cy="1234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39136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0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小規模コミュニティブランド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4416552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深い共感を持つニッチな集団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02552" y="3867912"/>
            <a:ext cx="5120640" cy="123444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02552" y="3867912"/>
            <a:ext cx="182880" cy="1234440"/>
          </a:xfrm>
          <a:prstGeom prst="rect">
            <a:avLst/>
          </a:prstGeom>
          <a:solidFill>
            <a:srgbClr val="558B2F"/>
          </a:solidFill>
          <a:ln/>
        </p:spPr>
      </p:sp>
      <p:sp>
        <p:nvSpPr>
          <p:cNvPr id="23" name="Text 21"/>
          <p:cNvSpPr/>
          <p:nvPr/>
        </p:nvSpPr>
        <p:spPr>
          <a:xfrm>
            <a:off x="7022592" y="391363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0A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超ニッチ趣味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22592" y="4416552"/>
            <a:ext cx="4663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マニアックな世界に熱狂するファン層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325880" y="5468112"/>
            <a:ext cx="10561320" cy="822960"/>
          </a:xfrm>
          <a:prstGeom prst="round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54681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"マス"より"深い共感"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1C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7B1FA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4114800"/>
            <a:ext cx="2743200" cy="2743200"/>
          </a:xfrm>
          <a:prstGeom prst="ellipse">
            <a:avLst/>
          </a:prstGeom>
          <a:solidFill>
            <a:srgbClr val="C2185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推しとは、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「感情を預けられる存在」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47088"/>
            <a:ext cx="11274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8FB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今日のポイント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167128" cy="1874520"/>
          </a:xfrm>
          <a:prstGeom prst="roundRect">
            <a:avLst/>
          </a:prstGeom>
          <a:solidFill>
            <a:srgbClr val="C2185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77440"/>
            <a:ext cx="216712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人は物語に熱狂する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34056" y="2377440"/>
            <a:ext cx="2167128" cy="1874520"/>
          </a:xfrm>
          <a:prstGeom prst="roundRect">
            <a:avLst/>
          </a:prstGeom>
          <a:solidFill>
            <a:srgbClr val="7B1FA2"/>
          </a:solidFill>
          <a:ln/>
        </p:spPr>
      </p:sp>
      <p:sp>
        <p:nvSpPr>
          <p:cNvPr id="10" name="Text 8"/>
          <p:cNvSpPr/>
          <p:nvPr/>
        </p:nvSpPr>
        <p:spPr>
          <a:xfrm>
            <a:off x="2734056" y="2377440"/>
            <a:ext cx="216712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SNSで距離感が変わった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10912" y="2377440"/>
            <a:ext cx="2167128" cy="1874520"/>
          </a:xfrm>
          <a:prstGeom prst="round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5010912" y="2377440"/>
            <a:ext cx="216712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共感が最重要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87768" y="2377440"/>
            <a:ext cx="2167128" cy="1874520"/>
          </a:xfrm>
          <a:prstGeom prst="roundRect">
            <a:avLst/>
          </a:prstGeom>
          <a:solidFill>
            <a:srgbClr val="558B2F"/>
          </a:solidFill>
          <a:ln/>
        </p:spPr>
      </p:sp>
      <p:sp>
        <p:nvSpPr>
          <p:cNvPr id="14" name="Text 12"/>
          <p:cNvSpPr/>
          <p:nvPr/>
        </p:nvSpPr>
        <p:spPr>
          <a:xfrm>
            <a:off x="7287768" y="2377440"/>
            <a:ext cx="216712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グッズは感情の保存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564624" y="2377440"/>
            <a:ext cx="2167128" cy="1874520"/>
          </a:xfrm>
          <a:prstGeom prst="roundRect">
            <a:avLst/>
          </a:prstGeom>
          <a:solidFill>
            <a:srgbClr val="E65100"/>
          </a:solidFill>
          <a:ln/>
        </p:spPr>
      </p:sp>
      <p:sp>
        <p:nvSpPr>
          <p:cNvPr id="16" name="Text 14"/>
          <p:cNvSpPr/>
          <p:nvPr/>
        </p:nvSpPr>
        <p:spPr>
          <a:xfrm>
            <a:off x="9564624" y="2377440"/>
            <a:ext cx="2167128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強い推しは文化になる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112745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8FB1"/>
                </a:solidFill>
              </a:rPr>
              <a:t>「好き」は、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919472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人間の行動を最も強く動かすエネルギーの一つ。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557784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8FB1"/>
                </a:solidFill>
              </a:rPr>
              <a:t>— SNS時代のファン心理学入門 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2026-05-09T09:21:09Z</dcterms:created>
  <dcterms:modified xsi:type="dcterms:W3CDTF">2026-05-09T09:21:09Z</dcterms:modified>
</cp:coreProperties>
</file>